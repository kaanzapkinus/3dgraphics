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FFB347"/>
                </a:solidFill>
                <a:latin typeface="Consolas"/>
              </a:rPr>
              <a:t>FINAL PROJECT /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41148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sz="1000" b="1" i="0" spc="200">
                <a:solidFill>
                  <a:srgbClr val="807E76"/>
                </a:solidFill>
                <a:latin typeface="Consolas"/>
              </a:rPr>
              <a:t>3D Graphics — WSB Merito Wrocław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100" b="1" i="0" spc="250">
                <a:solidFill>
                  <a:srgbClr val="FFB347"/>
                </a:solidFill>
                <a:latin typeface="Consolas"/>
              </a:rPr>
              <a:t>Blender + Python (bpy)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40280"/>
            <a:ext cx="11155680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6600" b="0" i="0">
                <a:solidFill>
                  <a:srgbClr val="E8E6E0"/>
                </a:solidFill>
                <a:latin typeface="Cambria"/>
              </a:rPr>
              <a:t>Procedural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46120"/>
            <a:ext cx="11155680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6600" b="0" i="0">
                <a:solidFill>
                  <a:srgbClr val="E8E6E0"/>
                </a:solidFill>
                <a:latin typeface="Cambria"/>
              </a:rPr>
              <a:t>Solar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38912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2200" b="0" i="1">
                <a:solidFill>
                  <a:srgbClr val="B8B6AE"/>
                </a:solidFill>
                <a:latin typeface="Cambria"/>
              </a:rPr>
              <a:t>A single Python script — run inside Blender — that builds the Sun, six planets, Saturn's rings, an asteroid belt and a star field from scratch, with no manual modelling.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1264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8E6E0"/>
                </a:solidFill>
                <a:latin typeface="Cambria"/>
              </a:rPr>
              <a:t>Kaan Yazıcıoğlu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100" b="1" i="0" spc="200">
                <a:solidFill>
                  <a:srgbClr val="807E76"/>
                </a:solidFill>
                <a:latin typeface="Consolas"/>
              </a:rPr>
              <a:t>SD1 · 97364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FFB347"/>
                </a:solidFill>
                <a:latin typeface="Consolas"/>
              </a:rPr>
              <a:t>01 · THE SCENE &amp; 3D OBJECTS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4200" b="0" i="0">
                <a:solidFill>
                  <a:srgbClr val="E8E6E0"/>
                </a:solidFill>
                <a:latin typeface="Cambria"/>
              </a:rPr>
              <a:t>What is on screen.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800" b="0" i="1">
                <a:solidFill>
                  <a:srgbClr val="B8B6AE"/>
                </a:solidFill>
                <a:latin typeface="Cambria"/>
              </a:rPr>
              <a:t>The scene contains ten+ distinct 3D objects floating in a procedurally-generated deep-space background.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606040"/>
            <a:ext cx="11155680" cy="9000"/>
          </a:xfrm>
          <a:prstGeom prst="rect">
            <a:avLst/>
          </a:prstGeom>
          <a:solidFill>
            <a:srgbClr val="2A2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100" b="1" i="0" spc="200">
                <a:solidFill>
                  <a:srgbClr val="FFB347"/>
                </a:solidFill>
                <a:latin typeface="Consolas"/>
              </a:rPr>
              <a:t>Sun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2697480"/>
            <a:ext cx="8686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E8E6E0"/>
                </a:solidFill>
                <a:latin typeface="Calibri"/>
              </a:rPr>
              <a:t>UV-sphere at the origin with an emission shader and a noise-driven surface — the bright centre that lights the rest of the scene.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19272"/>
            <a:ext cx="11155680" cy="9000"/>
          </a:xfrm>
          <a:prstGeom prst="rect">
            <a:avLst/>
          </a:prstGeom>
          <a:solidFill>
            <a:srgbClr val="2A2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456432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100" b="1" i="0" spc="200">
                <a:solidFill>
                  <a:srgbClr val="FFB347"/>
                </a:solidFill>
                <a:latin typeface="Consolas"/>
              </a:rPr>
              <a:t>Planets (×6)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3410712"/>
            <a:ext cx="8686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E8E6E0"/>
                </a:solidFill>
                <a:latin typeface="Calibri"/>
              </a:rPr>
              <a:t>Mercury, Venus, Earth, Mars, Jupiter and Saturn — each its own UV-sphere at a distinct orbital radius and size.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032504"/>
            <a:ext cx="11155680" cy="9000"/>
          </a:xfrm>
          <a:prstGeom prst="rect">
            <a:avLst/>
          </a:prstGeom>
          <a:solidFill>
            <a:srgbClr val="2A2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169664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100" b="1" i="0" spc="200">
                <a:solidFill>
                  <a:srgbClr val="FFB347"/>
                </a:solidFill>
                <a:latin typeface="Consolas"/>
              </a:rPr>
              <a:t>Saturn rings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4123944"/>
            <a:ext cx="8686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E8E6E0"/>
                </a:solidFill>
                <a:latin typeface="Calibri"/>
              </a:rPr>
              <a:t>A multi-band torus system parented to Saturn — B-ring, A-ring, and a faint outer dust ring with a Cassini-style gap.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745736"/>
            <a:ext cx="11155680" cy="9000"/>
          </a:xfrm>
          <a:prstGeom prst="rect">
            <a:avLst/>
          </a:prstGeom>
          <a:solidFill>
            <a:srgbClr val="2A2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882896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100" b="1" i="0" spc="200">
                <a:solidFill>
                  <a:srgbClr val="FFB347"/>
                </a:solidFill>
                <a:latin typeface="Consolas"/>
              </a:rPr>
              <a:t>Asteroid belt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4837176"/>
            <a:ext cx="8686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E8E6E0"/>
                </a:solidFill>
                <a:latin typeface="Calibri"/>
              </a:rPr>
              <a:t>Around 280 small ico-sphere rocks distributed in a thin ring between Mars and Jupiter, each instance sharing one mesh.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458968"/>
            <a:ext cx="11155680" cy="9000"/>
          </a:xfrm>
          <a:prstGeom prst="rect">
            <a:avLst/>
          </a:prstGeom>
          <a:solidFill>
            <a:srgbClr val="2A2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596128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100" b="1" i="0" spc="200">
                <a:solidFill>
                  <a:srgbClr val="FFB347"/>
                </a:solidFill>
                <a:latin typeface="Consolas"/>
              </a:rPr>
              <a:t>Background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5550408"/>
            <a:ext cx="8686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E8E6E0"/>
                </a:solidFill>
                <a:latin typeface="Calibri"/>
              </a:rPr>
              <a:t>A procedural star-field rendered into the world shader — Voronoi distance with a tight threshold gives pinpoint stars.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FFB347"/>
                </a:solidFill>
                <a:latin typeface="Consolas"/>
              </a:rPr>
              <a:t>02 · HOW THE OBJECTS WERE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4200" b="0" i="0">
                <a:solidFill>
                  <a:srgbClr val="E8E6E0"/>
                </a:solidFill>
                <a:latin typeface="Cambria"/>
              </a:rPr>
              <a:t>Geometry + procedural materials.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800" b="0" i="1">
                <a:solidFill>
                  <a:srgbClr val="B8B6AE"/>
                </a:solidFill>
                <a:latin typeface="Cambria"/>
              </a:rPr>
              <a:t>All geometry comes from Blender's built-in mesh primitives, and all surfaces use procedural noise nodes — no image textures.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606040"/>
            <a:ext cx="11155680" cy="9000"/>
          </a:xfrm>
          <a:prstGeom prst="rect">
            <a:avLst/>
          </a:prstGeom>
          <a:solidFill>
            <a:srgbClr val="2A2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100" b="1" i="0" spc="200">
                <a:solidFill>
                  <a:srgbClr val="FFB347"/>
                </a:solidFill>
                <a:latin typeface="Consolas"/>
              </a:rPr>
              <a:t>Geometry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2697480"/>
            <a:ext cx="8686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E8E6E0"/>
                </a:solidFill>
                <a:latin typeface="Calibri"/>
              </a:rPr>
              <a:t>bpy.ops.mesh.primitive_uv_sphere_add for the Sun and planets, primitive_torus_add for the rings, primitive_ico_sphere_add shared between asteroid instances.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19272"/>
            <a:ext cx="11155680" cy="9000"/>
          </a:xfrm>
          <a:prstGeom prst="rect">
            <a:avLst/>
          </a:prstGeom>
          <a:solidFill>
            <a:srgbClr val="2A2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456432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100" b="1" i="0" spc="200">
                <a:solidFill>
                  <a:srgbClr val="FFB347"/>
                </a:solidFill>
                <a:latin typeface="Consolas"/>
              </a:rPr>
              <a:t>Rocky surfaces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3410712"/>
            <a:ext cx="8686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E8E6E0"/>
                </a:solidFill>
                <a:latin typeface="Calibri"/>
              </a:rPr>
              <a:t>Mercury &amp; Mars — Voronoi-driven crater bump map combined with noise-driven colour variation. High roughness.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032504"/>
            <a:ext cx="11155680" cy="9000"/>
          </a:xfrm>
          <a:prstGeom prst="rect">
            <a:avLst/>
          </a:prstGeom>
          <a:solidFill>
            <a:srgbClr val="2A2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169664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100" b="1" i="0" spc="200">
                <a:solidFill>
                  <a:srgbClr val="FFB347"/>
                </a:solidFill>
                <a:latin typeface="Consolas"/>
              </a:rPr>
              <a:t>Gas giants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4123944"/>
            <a:ext cx="8686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E8E6E0"/>
                </a:solidFill>
                <a:latin typeface="Calibri"/>
              </a:rPr>
              <a:t>Jupiter &amp; Saturn — Wave Texture along the Z axis creates horizontal bands, distorted by noise for the wavy feel.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745736"/>
            <a:ext cx="11155680" cy="9000"/>
          </a:xfrm>
          <a:prstGeom prst="rect">
            <a:avLst/>
          </a:prstGeom>
          <a:solidFill>
            <a:srgbClr val="2A2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882896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100" b="1" i="0" spc="200">
                <a:solidFill>
                  <a:srgbClr val="FFB347"/>
                </a:solidFill>
                <a:latin typeface="Consolas"/>
              </a:rPr>
              <a:t>Earth &amp; Venus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4837176"/>
            <a:ext cx="8686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E8E6E0"/>
                </a:solidFill>
                <a:latin typeface="Calibri"/>
              </a:rPr>
              <a:t>Earth — noise-thresholded continent mask + polar ice from the Z coordinate.  Venus — two layered noise textures form cloud swirls.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458968"/>
            <a:ext cx="11155680" cy="9000"/>
          </a:xfrm>
          <a:prstGeom prst="rect">
            <a:avLst/>
          </a:prstGeom>
          <a:solidFill>
            <a:srgbClr val="2A2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596128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100" b="1" i="0" spc="200">
                <a:solidFill>
                  <a:srgbClr val="FFB347"/>
                </a:solidFill>
                <a:latin typeface="Consolas"/>
              </a:rPr>
              <a:t>Sun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5550408"/>
            <a:ext cx="8686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E8E6E0"/>
                </a:solidFill>
                <a:latin typeface="Calibri"/>
              </a:rPr>
              <a:t>Emission shader with a noise-driven brightness variation producing a subtle sunspot pattern.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FFB347"/>
                </a:solidFill>
                <a:latin typeface="Consolas"/>
              </a:rPr>
              <a:t>03 · HOW THE ANIMATION WAS DONE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4200" b="0" i="0">
                <a:solidFill>
                  <a:srgbClr val="E8E6E0"/>
                </a:solidFill>
                <a:latin typeface="Cambria"/>
              </a:rPr>
              <a:t>Parented empties + keyframed rotation.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800" b="0" i="1">
                <a:solidFill>
                  <a:srgbClr val="B8B6AE"/>
                </a:solidFill>
                <a:latin typeface="Cambria"/>
              </a:rPr>
              <a:t>Every planet orbits the Sun, the asteroid belt drifts slowly, and the whole scene is exported as a 10-second video.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606040"/>
            <a:ext cx="11155680" cy="9000"/>
          </a:xfrm>
          <a:prstGeom prst="rect">
            <a:avLst/>
          </a:prstGeom>
          <a:solidFill>
            <a:srgbClr val="2A2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100" b="1" i="0" spc="200">
                <a:solidFill>
                  <a:srgbClr val="FFB347"/>
                </a:solidFill>
                <a:latin typeface="Consolas"/>
              </a:rPr>
              <a:t>Orbit pivots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2697480"/>
            <a:ext cx="8686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E8E6E0"/>
                </a:solidFill>
                <a:latin typeface="Calibri"/>
              </a:rPr>
              <a:t>Each planet is parented to its own empty placed at the origin. Rotating that empty around its Z axis makes the planet orbit.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19272"/>
            <a:ext cx="11155680" cy="9000"/>
          </a:xfrm>
          <a:prstGeom prst="rect">
            <a:avLst/>
          </a:prstGeom>
          <a:solidFill>
            <a:srgbClr val="2A2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456432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100" b="1" i="0" spc="200">
                <a:solidFill>
                  <a:srgbClr val="FFB347"/>
                </a:solidFill>
                <a:latin typeface="Consolas"/>
              </a:rPr>
              <a:t>Keyframes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3410712"/>
            <a:ext cx="8686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E8E6E0"/>
                </a:solidFill>
                <a:latin typeface="Calibri"/>
              </a:rPr>
              <a:t>Two linear-interpolation keyframes per pivot — angle = 0 at frame 1, angle = 2π · (total_frames / period) at the last frame.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032504"/>
            <a:ext cx="11155680" cy="9000"/>
          </a:xfrm>
          <a:prstGeom prst="rect">
            <a:avLst/>
          </a:prstGeom>
          <a:solidFill>
            <a:srgbClr val="2A2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169664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100" b="1" i="0" spc="200">
                <a:solidFill>
                  <a:srgbClr val="FFB347"/>
                </a:solidFill>
                <a:latin typeface="Consolas"/>
              </a:rPr>
              <a:t>Per-planet period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4123944"/>
            <a:ext cx="8686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E8E6E0"/>
                </a:solidFill>
                <a:latin typeface="Calibri"/>
              </a:rPr>
              <a:t>Each planet has its own period_frames value (60-290), so inner planets orbit faster than outer ones.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745736"/>
            <a:ext cx="11155680" cy="9000"/>
          </a:xfrm>
          <a:prstGeom prst="rect">
            <a:avLst/>
          </a:prstGeom>
          <a:solidFill>
            <a:srgbClr val="2A2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882896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100" b="1" i="0" spc="200">
                <a:solidFill>
                  <a:srgbClr val="FFB347"/>
                </a:solidFill>
                <a:latin typeface="Consolas"/>
              </a:rPr>
              <a:t>Asteroid belt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4837176"/>
            <a:ext cx="8686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E8E6E0"/>
                </a:solidFill>
                <a:latin typeface="Calibri"/>
              </a:rPr>
              <a:t>The whole belt is parented to a single empty; that empty has its own slow orbit (one revolution per 360 frames).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458968"/>
            <a:ext cx="11155680" cy="9000"/>
          </a:xfrm>
          <a:prstGeom prst="rect">
            <a:avLst/>
          </a:prstGeom>
          <a:solidFill>
            <a:srgbClr val="2A2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596128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100" b="1" i="0" spc="200">
                <a:solidFill>
                  <a:srgbClr val="FFB347"/>
                </a:solidFill>
                <a:latin typeface="Consolas"/>
              </a:rPr>
              <a:t>Video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5550408"/>
            <a:ext cx="8686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E8E6E0"/>
                </a:solidFill>
                <a:latin typeface="Calibri"/>
              </a:rPr>
              <a:t>animation.mp4 — 240 frames at 24 fps, H.264 in MP4 = a 10-second clip, written by bpy.ops.render.render(animation=True).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FFB347"/>
                </a:solidFill>
                <a:latin typeface="Consolas"/>
              </a:rPr>
              <a:t>04 · HOW THE SCENE WAS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4200" b="0" i="0">
                <a:solidFill>
                  <a:srgbClr val="E8E6E0"/>
                </a:solidFill>
                <a:latin typeface="Cambria"/>
              </a:rPr>
              <a:t>Lighting, camera and render.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800" b="0" i="1">
                <a:solidFill>
                  <a:srgbClr val="B8B6AE"/>
                </a:solidFill>
                <a:latin typeface="Cambria"/>
              </a:rPr>
              <a:t>With the geometry in place, a single light, a cinematic camera and a procedural sky finish the scene.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606040"/>
            <a:ext cx="11155680" cy="9000"/>
          </a:xfrm>
          <a:prstGeom prst="rect">
            <a:avLst/>
          </a:prstGeom>
          <a:solidFill>
            <a:srgbClr val="2A2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100" b="1" i="0" spc="200">
                <a:solidFill>
                  <a:srgbClr val="FFB347"/>
                </a:solidFill>
                <a:latin typeface="Consolas"/>
              </a:rPr>
              <a:t>Lighting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2697480"/>
            <a:ext cx="8686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E8E6E0"/>
                </a:solidFill>
                <a:latin typeface="Calibri"/>
              </a:rPr>
              <a:t>One point light at the Sun's position (energy ≈ 17 000). The Sun mesh has its own shadow casting disabled so the light is not blocked from inside.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19272"/>
            <a:ext cx="11155680" cy="9000"/>
          </a:xfrm>
          <a:prstGeom prst="rect">
            <a:avLst/>
          </a:prstGeom>
          <a:solidFill>
            <a:srgbClr val="2A2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456432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100" b="1" i="0" spc="200">
                <a:solidFill>
                  <a:srgbClr val="FFB347"/>
                </a:solidFill>
                <a:latin typeface="Consolas"/>
              </a:rPr>
              <a:t>Camera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3410712"/>
            <a:ext cx="8686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E8E6E0"/>
                </a:solidFill>
                <a:latin typeface="Calibri"/>
              </a:rPr>
              <a:t>A perspective camera placed at (0, -40, 24) with a Track-To constraint locked on the origin — the camera always frames the Sun no matter what.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032504"/>
            <a:ext cx="11155680" cy="9000"/>
          </a:xfrm>
          <a:prstGeom prst="rect">
            <a:avLst/>
          </a:prstGeom>
          <a:solidFill>
            <a:srgbClr val="2A2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169664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100" b="1" i="0" spc="200">
                <a:solidFill>
                  <a:srgbClr val="FFB347"/>
                </a:solidFill>
                <a:latin typeface="Consolas"/>
              </a:rPr>
              <a:t>World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4123944"/>
            <a:ext cx="8686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E8E6E0"/>
                </a:solidFill>
                <a:latin typeface="Calibri"/>
              </a:rPr>
              <a:t>Procedural star-field replaces the default flat background.  Voronoi F1 distance + ColorRamp + dark space colour = stars.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745736"/>
            <a:ext cx="11155680" cy="9000"/>
          </a:xfrm>
          <a:prstGeom prst="rect">
            <a:avLst/>
          </a:prstGeom>
          <a:solidFill>
            <a:srgbClr val="2A2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882896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100" b="1" i="0" spc="200">
                <a:solidFill>
                  <a:srgbClr val="FFB347"/>
                </a:solidFill>
                <a:latin typeface="Consolas"/>
              </a:rPr>
              <a:t>Render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4837176"/>
            <a:ext cx="8686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E8E6E0"/>
                </a:solidFill>
                <a:latin typeface="Calibri"/>
              </a:rPr>
              <a:t>Blender Eevee Next (with Eevee/Cycles fallback), 1600 × 900, written to render.png next to the script.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458968"/>
            <a:ext cx="11155680" cy="9000"/>
          </a:xfrm>
          <a:prstGeom prst="rect">
            <a:avLst/>
          </a:prstGeom>
          <a:solidFill>
            <a:srgbClr val="2A2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596128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100" b="1" i="0" spc="200">
                <a:solidFill>
                  <a:srgbClr val="FFB347"/>
                </a:solidFill>
                <a:latin typeface="Consolas"/>
              </a:rPr>
              <a:t>Reproducible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5550408"/>
            <a:ext cx="8686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E8E6E0"/>
                </a:solidFill>
                <a:latin typeface="Calibri"/>
              </a:rPr>
              <a:t>clear_scene() runs first, so every time the script is executed the scene is rebuilt from zero — same input, same output.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FFB347"/>
                </a:solidFill>
                <a:latin typeface="Consolas"/>
              </a:rPr>
              <a:t>05 ·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3200" b="0" i="0">
                <a:solidFill>
                  <a:srgbClr val="E8E6E0"/>
                </a:solidFill>
                <a:latin typeface="Cambria"/>
              </a:rPr>
              <a:t>One script, one render, one video.</a:t>
            </a:r>
          </a:p>
        </p:txBody>
      </p:sp>
      <p:pic>
        <p:nvPicPr>
          <p:cNvPr id="4" name="animation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712567" y="1417320"/>
            <a:ext cx="6766560" cy="3611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16636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1100" b="1" i="0" spc="200">
                <a:solidFill>
                  <a:srgbClr val="F4D35E"/>
                </a:solidFill>
                <a:latin typeface="Consolas"/>
              </a:rPr>
              <a:t>render.png  (still)   ·   animation.mp4  (10 s, 24 fps)   ·   click ▶ to play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2356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</a:pPr>
            <a:r>
              <a:rPr sz="3600" b="0" i="1">
                <a:solidFill>
                  <a:srgbClr val="E8E6E0"/>
                </a:solidFill>
                <a:latin typeface="Cambria"/>
              </a:rPr>
              <a:t>Thank you.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1000" b="1" i="0" spc="200">
                <a:solidFill>
                  <a:srgbClr val="807E76"/>
                </a:solidFill>
                <a:latin typeface="Consolas"/>
              </a:rPr>
              <a:t>Kaan Yazıcıoğlu   ·   SD1 · 97364   ·   3D Graphics — WSB Merito Wrocław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